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Bricolage Grotesque" panose="020B0604020202020204" charset="0"/>
      <p:regular r:id="rId29"/>
    </p:embeddedFont>
    <p:embeddedFont>
      <p:font typeface="Bricolage Grotesque Bold" panose="020B0604020202020204" charset="0"/>
      <p:regular r:id="rId30"/>
    </p:embeddedFont>
    <p:embeddedFont>
      <p:font typeface="Bricolage Grotesque Medium" panose="020B0604020202020204" charset="0"/>
      <p:regular r:id="rId31"/>
    </p:embeddedFont>
    <p:embeddedFont>
      <p:font typeface="Canva Sans Bold" panose="020B0604020202020204" charset="0"/>
      <p:regular r:id="rId32"/>
    </p:embeddedFont>
    <p:embeddedFont>
      <p:font typeface="Glacial Indifference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83568" y="4067065"/>
            <a:ext cx="15320864" cy="3844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MOVIE DATA INSIGHTS AND PREDICTIONS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28901" y="715173"/>
            <a:ext cx="8030198" cy="3400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1"/>
              </a:lnSpc>
            </a:pPr>
            <a:r>
              <a:rPr lang="en-US" sz="385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Name: ANNU ANNA RENI</a:t>
            </a:r>
          </a:p>
          <a:p>
            <a:pPr algn="ctr">
              <a:lnSpc>
                <a:spcPts val="5391"/>
              </a:lnSpc>
            </a:pPr>
            <a:r>
              <a:rPr lang="en-US" sz="385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Enrolment Number:EN12025087763</a:t>
            </a:r>
          </a:p>
          <a:p>
            <a:pPr algn="ctr">
              <a:lnSpc>
                <a:spcPts val="5391"/>
              </a:lnSpc>
            </a:pPr>
            <a:r>
              <a:rPr lang="en-US" sz="385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Batch Code: DA50</a:t>
            </a:r>
          </a:p>
          <a:p>
            <a:pPr algn="ctr">
              <a:lnSpc>
                <a:spcPts val="5391"/>
              </a:lnSpc>
            </a:pPr>
            <a:r>
              <a:rPr lang="en-US" sz="385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Mentor: ASHISH RAJPUT</a:t>
            </a:r>
          </a:p>
          <a:p>
            <a:pPr algn="ctr">
              <a:lnSpc>
                <a:spcPts val="5391"/>
              </a:lnSpc>
              <a:spcBef>
                <a:spcPct val="0"/>
              </a:spcBef>
            </a:pPr>
            <a:endParaRPr lang="en-US" sz="3850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92806" y="2143125"/>
            <a:ext cx="14186763" cy="1190104"/>
            <a:chOff x="0" y="0"/>
            <a:chExt cx="3736431" cy="313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6431" cy="313443"/>
            </a:xfrm>
            <a:custGeom>
              <a:avLst/>
              <a:gdLst/>
              <a:ahLst/>
              <a:cxnLst/>
              <a:rect l="l" t="t" r="r" b="b"/>
              <a:pathLst>
                <a:path w="3736431" h="313443">
                  <a:moveTo>
                    <a:pt x="27831" y="0"/>
                  </a:moveTo>
                  <a:lnTo>
                    <a:pt x="3708600" y="0"/>
                  </a:lnTo>
                  <a:cubicBezTo>
                    <a:pt x="3723971" y="0"/>
                    <a:pt x="3736431" y="12461"/>
                    <a:pt x="3736431" y="27831"/>
                  </a:cubicBezTo>
                  <a:lnTo>
                    <a:pt x="3736431" y="285612"/>
                  </a:lnTo>
                  <a:cubicBezTo>
                    <a:pt x="3736431" y="300982"/>
                    <a:pt x="3723971" y="313443"/>
                    <a:pt x="3708600" y="313443"/>
                  </a:cubicBezTo>
                  <a:lnTo>
                    <a:pt x="27831" y="313443"/>
                  </a:lnTo>
                  <a:cubicBezTo>
                    <a:pt x="12461" y="313443"/>
                    <a:pt x="0" y="300982"/>
                    <a:pt x="0" y="285612"/>
                  </a:cubicBezTo>
                  <a:lnTo>
                    <a:pt x="0" y="27831"/>
                  </a:lnTo>
                  <a:cubicBezTo>
                    <a:pt x="0" y="12461"/>
                    <a:pt x="12461" y="0"/>
                    <a:pt x="278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736431" cy="361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To identify meaningful patterns and emerging trends within the movie industry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92806" y="5851749"/>
            <a:ext cx="14186763" cy="2621204"/>
            <a:chOff x="0" y="0"/>
            <a:chExt cx="3736431" cy="690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36431" cy="690358"/>
            </a:xfrm>
            <a:custGeom>
              <a:avLst/>
              <a:gdLst/>
              <a:ahLst/>
              <a:cxnLst/>
              <a:rect l="l" t="t" r="r" b="b"/>
              <a:pathLst>
                <a:path w="3736431" h="690358">
                  <a:moveTo>
                    <a:pt x="27831" y="0"/>
                  </a:moveTo>
                  <a:lnTo>
                    <a:pt x="3708600" y="0"/>
                  </a:lnTo>
                  <a:cubicBezTo>
                    <a:pt x="3723971" y="0"/>
                    <a:pt x="3736431" y="12461"/>
                    <a:pt x="3736431" y="27831"/>
                  </a:cubicBezTo>
                  <a:lnTo>
                    <a:pt x="3736431" y="662527"/>
                  </a:lnTo>
                  <a:cubicBezTo>
                    <a:pt x="3736431" y="677898"/>
                    <a:pt x="3723971" y="690358"/>
                    <a:pt x="3708600" y="690358"/>
                  </a:cubicBezTo>
                  <a:lnTo>
                    <a:pt x="27831" y="690358"/>
                  </a:lnTo>
                  <a:cubicBezTo>
                    <a:pt x="12461" y="690358"/>
                    <a:pt x="0" y="677898"/>
                    <a:pt x="0" y="662527"/>
                  </a:cubicBezTo>
                  <a:lnTo>
                    <a:pt x="0" y="27831"/>
                  </a:lnTo>
                  <a:cubicBezTo>
                    <a:pt x="0" y="12461"/>
                    <a:pt x="12461" y="0"/>
                    <a:pt x="278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36431" cy="737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6" lvl="1" indent="-269873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To identify the key factors influencing movie success.</a:t>
              </a:r>
            </a:p>
            <a:p>
              <a:pPr marL="539746" lvl="1" indent="-269873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To understand audience preferences.</a:t>
              </a:r>
            </a:p>
            <a:p>
              <a:pPr marL="539746" lvl="1" indent="-269873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To analyze market trends and content evolution</a:t>
              </a:r>
            </a:p>
            <a:p>
              <a:pPr marL="539746" lvl="1" indent="-269873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To build ml models to predict movie ratings and revenue </a:t>
              </a:r>
            </a:p>
            <a:p>
              <a:pPr algn="just">
                <a:lnSpc>
                  <a:spcPts val="2659"/>
                </a:lnSpc>
              </a:pPr>
              <a:endPara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649709"/>
            <a:ext cx="18288000" cy="1064791"/>
            <a:chOff x="0" y="0"/>
            <a:chExt cx="4816593" cy="2804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99075" y="753480"/>
            <a:ext cx="133858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BUSINESS 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26133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4284200"/>
            <a:ext cx="18288000" cy="1064791"/>
            <a:chOff x="0" y="0"/>
            <a:chExt cx="4816593" cy="2804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140235" y="4387971"/>
            <a:ext cx="133858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BUSINESS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23453" y="1799471"/>
            <a:ext cx="13832546" cy="3771900"/>
            <a:chOff x="0" y="0"/>
            <a:chExt cx="3643140" cy="9934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43140" cy="993422"/>
            </a:xfrm>
            <a:custGeom>
              <a:avLst/>
              <a:gdLst/>
              <a:ahLst/>
              <a:cxnLst/>
              <a:rect l="l" t="t" r="r" b="b"/>
              <a:pathLst>
                <a:path w="3643140" h="993422">
                  <a:moveTo>
                    <a:pt x="28544" y="0"/>
                  </a:moveTo>
                  <a:lnTo>
                    <a:pt x="3614596" y="0"/>
                  </a:lnTo>
                  <a:cubicBezTo>
                    <a:pt x="3622166" y="0"/>
                    <a:pt x="3629426" y="3007"/>
                    <a:pt x="3634779" y="8360"/>
                  </a:cubicBezTo>
                  <a:cubicBezTo>
                    <a:pt x="3640132" y="13713"/>
                    <a:pt x="3643140" y="20974"/>
                    <a:pt x="3643140" y="28544"/>
                  </a:cubicBezTo>
                  <a:lnTo>
                    <a:pt x="3643140" y="964878"/>
                  </a:lnTo>
                  <a:cubicBezTo>
                    <a:pt x="3643140" y="972448"/>
                    <a:pt x="3640132" y="979709"/>
                    <a:pt x="3634779" y="985062"/>
                  </a:cubicBezTo>
                  <a:cubicBezTo>
                    <a:pt x="3629426" y="990415"/>
                    <a:pt x="3622166" y="993422"/>
                    <a:pt x="3614596" y="993422"/>
                  </a:cubicBezTo>
                  <a:lnTo>
                    <a:pt x="28544" y="993422"/>
                  </a:lnTo>
                  <a:cubicBezTo>
                    <a:pt x="20974" y="993422"/>
                    <a:pt x="13713" y="990415"/>
                    <a:pt x="8360" y="985062"/>
                  </a:cubicBezTo>
                  <a:cubicBezTo>
                    <a:pt x="3007" y="979709"/>
                    <a:pt x="0" y="972448"/>
                    <a:pt x="0" y="964878"/>
                  </a:cubicBezTo>
                  <a:lnTo>
                    <a:pt x="0" y="28544"/>
                  </a:lnTo>
                  <a:cubicBezTo>
                    <a:pt x="0" y="20974"/>
                    <a:pt x="3007" y="13713"/>
                    <a:pt x="8360" y="8360"/>
                  </a:cubicBezTo>
                  <a:cubicBezTo>
                    <a:pt x="13713" y="3007"/>
                    <a:pt x="20974" y="0"/>
                    <a:pt x="285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643140" cy="1041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Industry: Film Analytics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Dataset Source: The Movie Dataset (tmdb_5000_movies),Credit Dataset (tmdb_5000_credits)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tmdb_5000_movies has 18 column and tmdb_5000_credits has 4 columns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Size: ~4,800 cleaned movie records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Duration: 1916–2017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455998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496305"/>
            <a:ext cx="18288000" cy="1064791"/>
            <a:chOff x="0" y="0"/>
            <a:chExt cx="4816593" cy="2804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25383" y="599321"/>
            <a:ext cx="133858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DESCRIPTION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5709328"/>
            <a:ext cx="18288000" cy="1064791"/>
            <a:chOff x="0" y="0"/>
            <a:chExt cx="4816593" cy="2804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37082" y="8125827"/>
            <a:ext cx="137660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EXCEL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24999" y="8048040"/>
            <a:ext cx="83034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SQL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90112" y="8125827"/>
            <a:ext cx="1797129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PYTHON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19374" y="8125827"/>
            <a:ext cx="198596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TABLEAU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98467" y="5813081"/>
            <a:ext cx="133858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TOOLS USED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500810" y="7097969"/>
            <a:ext cx="2587788" cy="2893917"/>
            <a:chOff x="0" y="0"/>
            <a:chExt cx="840176" cy="93956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0176" cy="939567"/>
            </a:xfrm>
            <a:custGeom>
              <a:avLst/>
              <a:gdLst/>
              <a:ahLst/>
              <a:cxnLst/>
              <a:rect l="l" t="t" r="r" b="b"/>
              <a:pathLst>
                <a:path w="840176" h="939567">
                  <a:moveTo>
                    <a:pt x="152577" y="0"/>
                  </a:moveTo>
                  <a:lnTo>
                    <a:pt x="687599" y="0"/>
                  </a:lnTo>
                  <a:cubicBezTo>
                    <a:pt x="771865" y="0"/>
                    <a:pt x="840176" y="68311"/>
                    <a:pt x="840176" y="152577"/>
                  </a:cubicBezTo>
                  <a:lnTo>
                    <a:pt x="840176" y="786990"/>
                  </a:lnTo>
                  <a:cubicBezTo>
                    <a:pt x="840176" y="827456"/>
                    <a:pt x="824101" y="866264"/>
                    <a:pt x="795487" y="894878"/>
                  </a:cubicBezTo>
                  <a:cubicBezTo>
                    <a:pt x="766873" y="923492"/>
                    <a:pt x="728065" y="939567"/>
                    <a:pt x="687599" y="939567"/>
                  </a:cubicBezTo>
                  <a:lnTo>
                    <a:pt x="152577" y="939567"/>
                  </a:lnTo>
                  <a:cubicBezTo>
                    <a:pt x="112111" y="939567"/>
                    <a:pt x="73303" y="923492"/>
                    <a:pt x="44689" y="894878"/>
                  </a:cubicBezTo>
                  <a:cubicBezTo>
                    <a:pt x="16075" y="866264"/>
                    <a:pt x="0" y="827456"/>
                    <a:pt x="0" y="786990"/>
                  </a:cubicBezTo>
                  <a:lnTo>
                    <a:pt x="0" y="152577"/>
                  </a:lnTo>
                  <a:cubicBezTo>
                    <a:pt x="0" y="112111"/>
                    <a:pt x="16075" y="73303"/>
                    <a:pt x="44689" y="44689"/>
                  </a:cubicBezTo>
                  <a:cubicBezTo>
                    <a:pt x="73303" y="16075"/>
                    <a:pt x="112111" y="0"/>
                    <a:pt x="1525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40176" cy="97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560597" y="7097969"/>
            <a:ext cx="2587788" cy="2893917"/>
            <a:chOff x="0" y="0"/>
            <a:chExt cx="840176" cy="9395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0176" cy="939567"/>
            </a:xfrm>
            <a:custGeom>
              <a:avLst/>
              <a:gdLst/>
              <a:ahLst/>
              <a:cxnLst/>
              <a:rect l="l" t="t" r="r" b="b"/>
              <a:pathLst>
                <a:path w="840176" h="939567">
                  <a:moveTo>
                    <a:pt x="152577" y="0"/>
                  </a:moveTo>
                  <a:lnTo>
                    <a:pt x="687599" y="0"/>
                  </a:lnTo>
                  <a:cubicBezTo>
                    <a:pt x="771865" y="0"/>
                    <a:pt x="840176" y="68311"/>
                    <a:pt x="840176" y="152577"/>
                  </a:cubicBezTo>
                  <a:lnTo>
                    <a:pt x="840176" y="786990"/>
                  </a:lnTo>
                  <a:cubicBezTo>
                    <a:pt x="840176" y="827456"/>
                    <a:pt x="824101" y="866264"/>
                    <a:pt x="795487" y="894878"/>
                  </a:cubicBezTo>
                  <a:cubicBezTo>
                    <a:pt x="766873" y="923492"/>
                    <a:pt x="728065" y="939567"/>
                    <a:pt x="687599" y="939567"/>
                  </a:cubicBezTo>
                  <a:lnTo>
                    <a:pt x="152577" y="939567"/>
                  </a:lnTo>
                  <a:cubicBezTo>
                    <a:pt x="112111" y="939567"/>
                    <a:pt x="73303" y="923492"/>
                    <a:pt x="44689" y="894878"/>
                  </a:cubicBezTo>
                  <a:cubicBezTo>
                    <a:pt x="16075" y="866264"/>
                    <a:pt x="0" y="827456"/>
                    <a:pt x="0" y="786990"/>
                  </a:cubicBezTo>
                  <a:lnTo>
                    <a:pt x="0" y="152577"/>
                  </a:lnTo>
                  <a:cubicBezTo>
                    <a:pt x="0" y="112111"/>
                    <a:pt x="16075" y="73303"/>
                    <a:pt x="44689" y="44689"/>
                  </a:cubicBezTo>
                  <a:cubicBezTo>
                    <a:pt x="73303" y="16075"/>
                    <a:pt x="112111" y="0"/>
                    <a:pt x="1525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40176" cy="97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75611" y="7097969"/>
            <a:ext cx="2587788" cy="2893917"/>
            <a:chOff x="0" y="0"/>
            <a:chExt cx="840176" cy="93956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40176" cy="939567"/>
            </a:xfrm>
            <a:custGeom>
              <a:avLst/>
              <a:gdLst/>
              <a:ahLst/>
              <a:cxnLst/>
              <a:rect l="l" t="t" r="r" b="b"/>
              <a:pathLst>
                <a:path w="840176" h="939567">
                  <a:moveTo>
                    <a:pt x="152577" y="0"/>
                  </a:moveTo>
                  <a:lnTo>
                    <a:pt x="687599" y="0"/>
                  </a:lnTo>
                  <a:cubicBezTo>
                    <a:pt x="771865" y="0"/>
                    <a:pt x="840176" y="68311"/>
                    <a:pt x="840176" y="152577"/>
                  </a:cubicBezTo>
                  <a:lnTo>
                    <a:pt x="840176" y="786990"/>
                  </a:lnTo>
                  <a:cubicBezTo>
                    <a:pt x="840176" y="827456"/>
                    <a:pt x="824101" y="866264"/>
                    <a:pt x="795487" y="894878"/>
                  </a:cubicBezTo>
                  <a:cubicBezTo>
                    <a:pt x="766873" y="923492"/>
                    <a:pt x="728065" y="939567"/>
                    <a:pt x="687599" y="939567"/>
                  </a:cubicBezTo>
                  <a:lnTo>
                    <a:pt x="152577" y="939567"/>
                  </a:lnTo>
                  <a:cubicBezTo>
                    <a:pt x="112111" y="939567"/>
                    <a:pt x="73303" y="923492"/>
                    <a:pt x="44689" y="894878"/>
                  </a:cubicBezTo>
                  <a:cubicBezTo>
                    <a:pt x="16075" y="866264"/>
                    <a:pt x="0" y="827456"/>
                    <a:pt x="0" y="786990"/>
                  </a:cubicBezTo>
                  <a:lnTo>
                    <a:pt x="0" y="152577"/>
                  </a:lnTo>
                  <a:cubicBezTo>
                    <a:pt x="0" y="112111"/>
                    <a:pt x="16075" y="73303"/>
                    <a:pt x="44689" y="44689"/>
                  </a:cubicBezTo>
                  <a:cubicBezTo>
                    <a:pt x="73303" y="16075"/>
                    <a:pt x="112111" y="0"/>
                    <a:pt x="1525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40176" cy="97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909485" y="7097969"/>
            <a:ext cx="2587788" cy="2893917"/>
            <a:chOff x="0" y="0"/>
            <a:chExt cx="840176" cy="9395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40176" cy="939567"/>
            </a:xfrm>
            <a:custGeom>
              <a:avLst/>
              <a:gdLst/>
              <a:ahLst/>
              <a:cxnLst/>
              <a:rect l="l" t="t" r="r" b="b"/>
              <a:pathLst>
                <a:path w="840176" h="939567">
                  <a:moveTo>
                    <a:pt x="152577" y="0"/>
                  </a:moveTo>
                  <a:lnTo>
                    <a:pt x="687599" y="0"/>
                  </a:lnTo>
                  <a:cubicBezTo>
                    <a:pt x="771865" y="0"/>
                    <a:pt x="840176" y="68311"/>
                    <a:pt x="840176" y="152577"/>
                  </a:cubicBezTo>
                  <a:lnTo>
                    <a:pt x="840176" y="786990"/>
                  </a:lnTo>
                  <a:cubicBezTo>
                    <a:pt x="840176" y="827456"/>
                    <a:pt x="824101" y="866264"/>
                    <a:pt x="795487" y="894878"/>
                  </a:cubicBezTo>
                  <a:cubicBezTo>
                    <a:pt x="766873" y="923492"/>
                    <a:pt x="728065" y="939567"/>
                    <a:pt x="687599" y="939567"/>
                  </a:cubicBezTo>
                  <a:lnTo>
                    <a:pt x="152577" y="939567"/>
                  </a:lnTo>
                  <a:cubicBezTo>
                    <a:pt x="112111" y="939567"/>
                    <a:pt x="73303" y="923492"/>
                    <a:pt x="44689" y="894878"/>
                  </a:cubicBezTo>
                  <a:cubicBezTo>
                    <a:pt x="16075" y="866264"/>
                    <a:pt x="0" y="827456"/>
                    <a:pt x="0" y="786990"/>
                  </a:cubicBezTo>
                  <a:lnTo>
                    <a:pt x="0" y="152577"/>
                  </a:lnTo>
                  <a:cubicBezTo>
                    <a:pt x="0" y="112111"/>
                    <a:pt x="16075" y="73303"/>
                    <a:pt x="44689" y="44689"/>
                  </a:cubicBezTo>
                  <a:cubicBezTo>
                    <a:pt x="73303" y="16075"/>
                    <a:pt x="112111" y="0"/>
                    <a:pt x="1525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40176" cy="97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92548" y="7097969"/>
            <a:ext cx="2587788" cy="2893917"/>
            <a:chOff x="0" y="0"/>
            <a:chExt cx="840176" cy="93956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40176" cy="939567"/>
            </a:xfrm>
            <a:custGeom>
              <a:avLst/>
              <a:gdLst/>
              <a:ahLst/>
              <a:cxnLst/>
              <a:rect l="l" t="t" r="r" b="b"/>
              <a:pathLst>
                <a:path w="840176" h="939567">
                  <a:moveTo>
                    <a:pt x="152577" y="0"/>
                  </a:moveTo>
                  <a:lnTo>
                    <a:pt x="687599" y="0"/>
                  </a:lnTo>
                  <a:cubicBezTo>
                    <a:pt x="771865" y="0"/>
                    <a:pt x="840176" y="68311"/>
                    <a:pt x="840176" y="152577"/>
                  </a:cubicBezTo>
                  <a:lnTo>
                    <a:pt x="840176" y="786990"/>
                  </a:lnTo>
                  <a:cubicBezTo>
                    <a:pt x="840176" y="827456"/>
                    <a:pt x="824101" y="866264"/>
                    <a:pt x="795487" y="894878"/>
                  </a:cubicBezTo>
                  <a:cubicBezTo>
                    <a:pt x="766873" y="923492"/>
                    <a:pt x="728065" y="939567"/>
                    <a:pt x="687599" y="939567"/>
                  </a:cubicBezTo>
                  <a:lnTo>
                    <a:pt x="152577" y="939567"/>
                  </a:lnTo>
                  <a:cubicBezTo>
                    <a:pt x="112111" y="939567"/>
                    <a:pt x="73303" y="923492"/>
                    <a:pt x="44689" y="894878"/>
                  </a:cubicBezTo>
                  <a:cubicBezTo>
                    <a:pt x="16075" y="866264"/>
                    <a:pt x="0" y="827456"/>
                    <a:pt x="0" y="786990"/>
                  </a:cubicBezTo>
                  <a:lnTo>
                    <a:pt x="0" y="152577"/>
                  </a:lnTo>
                  <a:cubicBezTo>
                    <a:pt x="0" y="112111"/>
                    <a:pt x="16075" y="73303"/>
                    <a:pt x="44689" y="44689"/>
                  </a:cubicBezTo>
                  <a:cubicBezTo>
                    <a:pt x="73303" y="16075"/>
                    <a:pt x="112111" y="0"/>
                    <a:pt x="1525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40176" cy="97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31489" y="7097969"/>
            <a:ext cx="2587788" cy="2893917"/>
            <a:chOff x="0" y="0"/>
            <a:chExt cx="840176" cy="93956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40176" cy="939567"/>
            </a:xfrm>
            <a:custGeom>
              <a:avLst/>
              <a:gdLst/>
              <a:ahLst/>
              <a:cxnLst/>
              <a:rect l="l" t="t" r="r" b="b"/>
              <a:pathLst>
                <a:path w="840176" h="939567">
                  <a:moveTo>
                    <a:pt x="152577" y="0"/>
                  </a:moveTo>
                  <a:lnTo>
                    <a:pt x="687599" y="0"/>
                  </a:lnTo>
                  <a:cubicBezTo>
                    <a:pt x="771865" y="0"/>
                    <a:pt x="840176" y="68311"/>
                    <a:pt x="840176" y="152577"/>
                  </a:cubicBezTo>
                  <a:lnTo>
                    <a:pt x="840176" y="786990"/>
                  </a:lnTo>
                  <a:cubicBezTo>
                    <a:pt x="840176" y="827456"/>
                    <a:pt x="824101" y="866264"/>
                    <a:pt x="795487" y="894878"/>
                  </a:cubicBezTo>
                  <a:cubicBezTo>
                    <a:pt x="766873" y="923492"/>
                    <a:pt x="728065" y="939567"/>
                    <a:pt x="687599" y="939567"/>
                  </a:cubicBezTo>
                  <a:lnTo>
                    <a:pt x="152577" y="939567"/>
                  </a:lnTo>
                  <a:cubicBezTo>
                    <a:pt x="112111" y="939567"/>
                    <a:pt x="73303" y="923492"/>
                    <a:pt x="44689" y="894878"/>
                  </a:cubicBezTo>
                  <a:cubicBezTo>
                    <a:pt x="16075" y="866264"/>
                    <a:pt x="0" y="827456"/>
                    <a:pt x="0" y="786990"/>
                  </a:cubicBezTo>
                  <a:lnTo>
                    <a:pt x="0" y="152577"/>
                  </a:lnTo>
                  <a:cubicBezTo>
                    <a:pt x="0" y="112111"/>
                    <a:pt x="16075" y="73303"/>
                    <a:pt x="44689" y="44689"/>
                  </a:cubicBezTo>
                  <a:cubicBezTo>
                    <a:pt x="73303" y="16075"/>
                    <a:pt x="112111" y="0"/>
                    <a:pt x="1525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840176" cy="97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613919" y="8084552"/>
            <a:ext cx="2481144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STATISTICS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660812" y="7894053"/>
            <a:ext cx="2233136" cy="122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MACHINE</a:t>
            </a:r>
          </a:p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43900" y="3057514"/>
            <a:ext cx="4022416" cy="2880637"/>
          </a:xfrm>
          <a:custGeom>
            <a:avLst/>
            <a:gdLst/>
            <a:ahLst/>
            <a:cxnLst/>
            <a:rect l="l" t="t" r="r" b="b"/>
            <a:pathLst>
              <a:path w="4022416" h="2880637">
                <a:moveTo>
                  <a:pt x="0" y="0"/>
                </a:moveTo>
                <a:lnTo>
                  <a:pt x="4022417" y="0"/>
                </a:lnTo>
                <a:lnTo>
                  <a:pt x="4022417" y="2880637"/>
                </a:lnTo>
                <a:lnTo>
                  <a:pt x="0" y="2880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579265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4283497"/>
            <a:ext cx="9525" cy="29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6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16130" y="3616537"/>
            <a:ext cx="3537097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D467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Identified objectives and   selected their respective tools</a:t>
            </a:r>
          </a:p>
        </p:txBody>
      </p:sp>
      <p:sp>
        <p:nvSpPr>
          <p:cNvPr id="7" name="Freeform 7"/>
          <p:cNvSpPr/>
          <p:nvPr/>
        </p:nvSpPr>
        <p:spPr>
          <a:xfrm>
            <a:off x="5116821" y="3142053"/>
            <a:ext cx="4022416" cy="2880637"/>
          </a:xfrm>
          <a:custGeom>
            <a:avLst/>
            <a:gdLst/>
            <a:ahLst/>
            <a:cxnLst/>
            <a:rect l="l" t="t" r="r" b="b"/>
            <a:pathLst>
              <a:path w="4022416" h="2880637">
                <a:moveTo>
                  <a:pt x="0" y="0"/>
                </a:moveTo>
                <a:lnTo>
                  <a:pt x="4022416" y="0"/>
                </a:lnTo>
                <a:lnTo>
                  <a:pt x="4022416" y="2880637"/>
                </a:lnTo>
                <a:lnTo>
                  <a:pt x="0" y="2880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529244" y="3658446"/>
            <a:ext cx="3048019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D467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Preprocessed datasets in jupyter notebook and downloaded</a:t>
            </a:r>
          </a:p>
        </p:txBody>
      </p:sp>
      <p:sp>
        <p:nvSpPr>
          <p:cNvPr id="9" name="Freeform 9"/>
          <p:cNvSpPr/>
          <p:nvPr/>
        </p:nvSpPr>
        <p:spPr>
          <a:xfrm>
            <a:off x="9579889" y="3142053"/>
            <a:ext cx="4022416" cy="2880637"/>
          </a:xfrm>
          <a:custGeom>
            <a:avLst/>
            <a:gdLst/>
            <a:ahLst/>
            <a:cxnLst/>
            <a:rect l="l" t="t" r="r" b="b"/>
            <a:pathLst>
              <a:path w="4022416" h="2880637">
                <a:moveTo>
                  <a:pt x="0" y="0"/>
                </a:moveTo>
                <a:lnTo>
                  <a:pt x="4022416" y="0"/>
                </a:lnTo>
                <a:lnTo>
                  <a:pt x="4022416" y="2880637"/>
                </a:lnTo>
                <a:lnTo>
                  <a:pt x="0" y="2880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033431" y="3057514"/>
            <a:ext cx="4022416" cy="2880637"/>
          </a:xfrm>
          <a:custGeom>
            <a:avLst/>
            <a:gdLst/>
            <a:ahLst/>
            <a:cxnLst/>
            <a:rect l="l" t="t" r="r" b="b"/>
            <a:pathLst>
              <a:path w="4022416" h="2880637">
                <a:moveTo>
                  <a:pt x="0" y="0"/>
                </a:moveTo>
                <a:lnTo>
                  <a:pt x="4022416" y="0"/>
                </a:lnTo>
                <a:lnTo>
                  <a:pt x="4022416" y="2880637"/>
                </a:lnTo>
                <a:lnTo>
                  <a:pt x="0" y="2880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067087" y="3252046"/>
            <a:ext cx="3048019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D467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Completed  objective with respective tools using preprocessed dataset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60834" y="3242521"/>
            <a:ext cx="3048019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1D467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Written interpretations.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60834" y="4194094"/>
            <a:ext cx="304801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D467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Summarized findings and  concluded</a:t>
            </a:r>
          </a:p>
        </p:txBody>
      </p:sp>
      <p:sp>
        <p:nvSpPr>
          <p:cNvPr id="14" name="Freeform 14"/>
          <p:cNvSpPr/>
          <p:nvPr/>
        </p:nvSpPr>
        <p:spPr>
          <a:xfrm>
            <a:off x="4704417" y="4497833"/>
            <a:ext cx="403875" cy="369362"/>
          </a:xfrm>
          <a:custGeom>
            <a:avLst/>
            <a:gdLst/>
            <a:ahLst/>
            <a:cxnLst/>
            <a:rect l="l" t="t" r="r" b="b"/>
            <a:pathLst>
              <a:path w="403875" h="369362">
                <a:moveTo>
                  <a:pt x="0" y="0"/>
                </a:moveTo>
                <a:lnTo>
                  <a:pt x="403874" y="0"/>
                </a:lnTo>
                <a:lnTo>
                  <a:pt x="403874" y="369362"/>
                </a:lnTo>
                <a:lnTo>
                  <a:pt x="0" y="369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595019" y="4497833"/>
            <a:ext cx="403875" cy="369362"/>
          </a:xfrm>
          <a:custGeom>
            <a:avLst/>
            <a:gdLst/>
            <a:ahLst/>
            <a:cxnLst/>
            <a:rect l="l" t="t" r="r" b="b"/>
            <a:pathLst>
              <a:path w="403875" h="369362">
                <a:moveTo>
                  <a:pt x="0" y="0"/>
                </a:moveTo>
                <a:lnTo>
                  <a:pt x="403875" y="0"/>
                </a:lnTo>
                <a:lnTo>
                  <a:pt x="403875" y="369362"/>
                </a:lnTo>
                <a:lnTo>
                  <a:pt x="0" y="369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232086" y="4497833"/>
            <a:ext cx="403875" cy="369362"/>
          </a:xfrm>
          <a:custGeom>
            <a:avLst/>
            <a:gdLst/>
            <a:ahLst/>
            <a:cxnLst/>
            <a:rect l="l" t="t" r="r" b="b"/>
            <a:pathLst>
              <a:path w="403875" h="369362">
                <a:moveTo>
                  <a:pt x="0" y="0"/>
                </a:moveTo>
                <a:lnTo>
                  <a:pt x="403875" y="0"/>
                </a:lnTo>
                <a:lnTo>
                  <a:pt x="403875" y="369362"/>
                </a:lnTo>
                <a:lnTo>
                  <a:pt x="0" y="369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4762" y="735423"/>
            <a:ext cx="18288000" cy="1064791"/>
            <a:chOff x="0" y="0"/>
            <a:chExt cx="4816593" cy="28043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168749" y="809614"/>
            <a:ext cx="115644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361751" y="2959453"/>
            <a:ext cx="11564498" cy="367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OBJECTIVE 1: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FACTORS AFFECTING MOVIE SUCCESS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85089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392696"/>
            <a:ext cx="9713506" cy="4862096"/>
          </a:xfrm>
          <a:custGeom>
            <a:avLst/>
            <a:gdLst/>
            <a:ahLst/>
            <a:cxnLst/>
            <a:rect l="l" t="t" r="r" b="b"/>
            <a:pathLst>
              <a:path w="9713506" h="4862096">
                <a:moveTo>
                  <a:pt x="0" y="0"/>
                </a:moveTo>
                <a:lnTo>
                  <a:pt x="9713506" y="0"/>
                </a:lnTo>
                <a:lnTo>
                  <a:pt x="9713506" y="4862096"/>
                </a:lnTo>
                <a:lnTo>
                  <a:pt x="0" y="4862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3" r="-2088" b="-40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54004" y="3193853"/>
            <a:ext cx="8438022" cy="5060939"/>
          </a:xfrm>
          <a:custGeom>
            <a:avLst/>
            <a:gdLst/>
            <a:ahLst/>
            <a:cxnLst/>
            <a:rect l="l" t="t" r="r" b="b"/>
            <a:pathLst>
              <a:path w="8438022" h="5060939">
                <a:moveTo>
                  <a:pt x="0" y="0"/>
                </a:moveTo>
                <a:lnTo>
                  <a:pt x="8438022" y="0"/>
                </a:lnTo>
                <a:lnTo>
                  <a:pt x="8438022" y="5060939"/>
                </a:lnTo>
                <a:lnTo>
                  <a:pt x="0" y="5060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5" t="-385" r="-434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685800"/>
            <a:ext cx="18288000" cy="1064791"/>
            <a:chOff x="0" y="0"/>
            <a:chExt cx="4816593" cy="2804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1917" y="741997"/>
            <a:ext cx="952397" cy="9523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708782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526" y="2252785"/>
            <a:ext cx="9544980" cy="86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DOES A HIGHER PRODUCTION BUDGET LEAD TO HIGHER REVENUE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9978" y="8197642"/>
            <a:ext cx="824607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Medium budget movies have the most profit than low and high budget movies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5323" y="8197642"/>
            <a:ext cx="824607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Movies with higher budgets generally earn higher revenue, but the relationship is not perfectly linear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44980" y="2252785"/>
            <a:ext cx="8643211" cy="86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BUDGET RANGE (LOW, MEDIUM, HIGH) DELIVERS THE BEST PROFIT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0045" y="799095"/>
            <a:ext cx="664982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88825" y="780045"/>
            <a:ext cx="14849362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REVENUE AND BUDGET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040" y="2824035"/>
            <a:ext cx="8929710" cy="5235914"/>
          </a:xfrm>
          <a:custGeom>
            <a:avLst/>
            <a:gdLst/>
            <a:ahLst/>
            <a:cxnLst/>
            <a:rect l="l" t="t" r="r" b="b"/>
            <a:pathLst>
              <a:path w="8929710" h="5235914">
                <a:moveTo>
                  <a:pt x="0" y="0"/>
                </a:moveTo>
                <a:lnTo>
                  <a:pt x="8929710" y="0"/>
                </a:lnTo>
                <a:lnTo>
                  <a:pt x="8929710" y="5235914"/>
                </a:lnTo>
                <a:lnTo>
                  <a:pt x="0" y="5235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" r="-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40806" y="2921456"/>
            <a:ext cx="8127949" cy="5235914"/>
          </a:xfrm>
          <a:custGeom>
            <a:avLst/>
            <a:gdLst/>
            <a:ahLst/>
            <a:cxnLst/>
            <a:rect l="l" t="t" r="r" b="b"/>
            <a:pathLst>
              <a:path w="8127949" h="5235914">
                <a:moveTo>
                  <a:pt x="0" y="0"/>
                </a:moveTo>
                <a:lnTo>
                  <a:pt x="8127949" y="0"/>
                </a:lnTo>
                <a:lnTo>
                  <a:pt x="8127949" y="5235914"/>
                </a:lnTo>
                <a:lnTo>
                  <a:pt x="0" y="523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0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658541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4290" y="2121092"/>
            <a:ext cx="8643211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 HIGH PROFIT MOVIES ALWAYS GET HIGH RATING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2858" y="8269605"/>
            <a:ext cx="8246074" cy="13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Most genres have rating between 6-7 but profit varies across genres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264754" y="2121092"/>
            <a:ext cx="8768603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ARE THE TOP PRODUCED GENRES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64754" y="8197642"/>
            <a:ext cx="8246074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Drama is most frequently produced genre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684826"/>
            <a:ext cx="18288000" cy="1064791"/>
            <a:chOff x="0" y="0"/>
            <a:chExt cx="4816593" cy="2804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772560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GENRE PERFORMANCE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93612" y="741023"/>
            <a:ext cx="952397" cy="95239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22398" y="791610"/>
            <a:ext cx="49482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3981" y="3236073"/>
            <a:ext cx="9237602" cy="5346262"/>
          </a:xfrm>
          <a:custGeom>
            <a:avLst/>
            <a:gdLst/>
            <a:ahLst/>
            <a:cxnLst/>
            <a:rect l="l" t="t" r="r" b="b"/>
            <a:pathLst>
              <a:path w="9237602" h="5346262">
                <a:moveTo>
                  <a:pt x="0" y="0"/>
                </a:moveTo>
                <a:lnTo>
                  <a:pt x="9237603" y="0"/>
                </a:lnTo>
                <a:lnTo>
                  <a:pt x="9237603" y="5346262"/>
                </a:lnTo>
                <a:lnTo>
                  <a:pt x="0" y="5346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17049" y="3209334"/>
            <a:ext cx="8358484" cy="4506506"/>
          </a:xfrm>
          <a:custGeom>
            <a:avLst/>
            <a:gdLst/>
            <a:ahLst/>
            <a:cxnLst/>
            <a:rect l="l" t="t" r="r" b="b"/>
            <a:pathLst>
              <a:path w="8358484" h="4506506">
                <a:moveTo>
                  <a:pt x="0" y="0"/>
                </a:moveTo>
                <a:lnTo>
                  <a:pt x="8358484" y="0"/>
                </a:lnTo>
                <a:lnTo>
                  <a:pt x="8358484" y="4506506"/>
                </a:lnTo>
                <a:lnTo>
                  <a:pt x="0" y="4506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28" r="-272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809259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2295005"/>
            <a:ext cx="9641584" cy="86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DIRECTOR–ACTOR PAIRINGS PRODUCE THE MOST PROFITABLE MOVIES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75499" y="2329297"/>
            <a:ext cx="9641584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WHO IS THE MOST PROFITABLE DIRECTOR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3981" y="8551337"/>
            <a:ext cx="9803061" cy="17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John Glen and Desmond Llewelyn are the most profitable director- actor pairing but clint Eastwood , both as director and actor, also generates good profits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75499" y="7901179"/>
            <a:ext cx="1005418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Clint Eastwood is the most profitable director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1499" y="658714"/>
            <a:ext cx="18288000" cy="1064791"/>
            <a:chOff x="0" y="0"/>
            <a:chExt cx="4816593" cy="2804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07585" y="75296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CAST AND CREW INFLUENCE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699767" y="714911"/>
            <a:ext cx="952397" cy="95239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46115" y="772009"/>
            <a:ext cx="4597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804935"/>
            <a:ext cx="8881105" cy="5338111"/>
          </a:xfrm>
          <a:custGeom>
            <a:avLst/>
            <a:gdLst/>
            <a:ahLst/>
            <a:cxnLst/>
            <a:rect l="l" t="t" r="r" b="b"/>
            <a:pathLst>
              <a:path w="8881105" h="5338111">
                <a:moveTo>
                  <a:pt x="0" y="0"/>
                </a:moveTo>
                <a:lnTo>
                  <a:pt x="8881105" y="0"/>
                </a:lnTo>
                <a:lnTo>
                  <a:pt x="8881105" y="5338111"/>
                </a:lnTo>
                <a:lnTo>
                  <a:pt x="0" y="5338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98624"/>
            <a:ext cx="18288000" cy="1064791"/>
            <a:chOff x="0" y="0"/>
            <a:chExt cx="4816593" cy="2804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28886" y="792870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PRODUCTION EFFICIENCY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34843" y="754821"/>
            <a:ext cx="952397" cy="9523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4000" y="2804935"/>
            <a:ext cx="8621008" cy="4688977"/>
          </a:xfrm>
          <a:custGeom>
            <a:avLst/>
            <a:gdLst/>
            <a:ahLst/>
            <a:cxnLst/>
            <a:rect l="l" t="t" r="r" b="b"/>
            <a:pathLst>
              <a:path w="8621008" h="4688977">
                <a:moveTo>
                  <a:pt x="0" y="0"/>
                </a:moveTo>
                <a:lnTo>
                  <a:pt x="8621008" y="0"/>
                </a:lnTo>
                <a:lnTo>
                  <a:pt x="8621008" y="4688978"/>
                </a:lnTo>
                <a:lnTo>
                  <a:pt x="0" y="4688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1" b="-118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665167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95981" y="1997218"/>
            <a:ext cx="9641584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PRODUCTION COMPANY MAKE MORE PROFIT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64094" y="1998733"/>
            <a:ext cx="9323906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COUNTRY MAKE MOST REVENUE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8428796"/>
            <a:ext cx="8964094" cy="13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Universal pictures is the only production company with more than 3% contribution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44000" y="8428796"/>
            <a:ext cx="8964094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USA produce  the most revenue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3391" y="811920"/>
            <a:ext cx="4953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361751" y="2959453"/>
            <a:ext cx="11564498" cy="367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OBJECTIVE 2: </a:t>
            </a:r>
            <a:r>
              <a:rPr lang="en-US" sz="6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UNDERSTANDING AUDIENCE PREFERENCES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65167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82205"/>
            <a:ext cx="18288000" cy="1064791"/>
            <a:chOff x="0" y="0"/>
            <a:chExt cx="4816593" cy="2804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95115" y="67645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AUDIENCE RATING ANALYSIS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84868" y="638402"/>
            <a:ext cx="952397" cy="95239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974179" y="2813929"/>
            <a:ext cx="8285121" cy="5478536"/>
          </a:xfrm>
          <a:custGeom>
            <a:avLst/>
            <a:gdLst/>
            <a:ahLst/>
            <a:cxnLst/>
            <a:rect l="l" t="t" r="r" b="b"/>
            <a:pathLst>
              <a:path w="8285121" h="5478536">
                <a:moveTo>
                  <a:pt x="0" y="0"/>
                </a:moveTo>
                <a:lnTo>
                  <a:pt x="8285121" y="0"/>
                </a:lnTo>
                <a:lnTo>
                  <a:pt x="8285121" y="5478536"/>
                </a:lnTo>
                <a:lnTo>
                  <a:pt x="0" y="5478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828942" y="3988655"/>
          <a:ext cx="7315200" cy="196215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6557526" y="-1596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3321" y="1804377"/>
            <a:ext cx="8188166" cy="1308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DO ACTION MOVIES RECEIVE HIGHER AVERAGE AUDIENCE RATINGS THAN THE OVERALL MOVIE AVERAGE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10415" y="1923221"/>
            <a:ext cx="8977585" cy="174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DO MOST MOVIES GET SIMILAR RATINGS FROM THE AUDIENCE, OR ARE THERE BIG DIFFERENCES</a:t>
            </a:r>
          </a:p>
          <a:p>
            <a:pPr algn="l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US" sz="2500" b="1">
              <a:solidFill>
                <a:srgbClr val="FFFFFF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646135" y="8568690"/>
            <a:ext cx="6941208" cy="13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Rating between 6 and 7 have most movies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93321" y="8235315"/>
            <a:ext cx="7786443" cy="2184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There is no evidence that action movies are rated higher than the overall movie average rating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62338" y="695499"/>
            <a:ext cx="685639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1296" y="4158276"/>
            <a:ext cx="1335405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_stats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74298" y="4158276"/>
            <a:ext cx="1792876" cy="514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t_critical</a:t>
            </a:r>
            <a:endParaRPr lang="en-US" sz="3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297211" y="4158276"/>
            <a:ext cx="1648268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p_value</a:t>
            </a:r>
            <a:endParaRPr lang="en-US" sz="3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02839" y="5267448"/>
            <a:ext cx="1534426" cy="1047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-5.9856</a:t>
            </a:r>
          </a:p>
          <a:p>
            <a:pPr algn="ctr">
              <a:lnSpc>
                <a:spcPts val="4200"/>
              </a:lnSpc>
            </a:pPr>
            <a:endParaRPr lang="en-US" sz="3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097803" y="5267448"/>
            <a:ext cx="1200984" cy="514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1.64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36356" y="5267448"/>
            <a:ext cx="200739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493891"/>
            <a:ext cx="7584509" cy="3498355"/>
          </a:xfrm>
          <a:custGeom>
            <a:avLst/>
            <a:gdLst/>
            <a:ahLst/>
            <a:cxnLst/>
            <a:rect l="l" t="t" r="r" b="b"/>
            <a:pathLst>
              <a:path w="7584509" h="3498355">
                <a:moveTo>
                  <a:pt x="0" y="0"/>
                </a:moveTo>
                <a:lnTo>
                  <a:pt x="7584509" y="0"/>
                </a:lnTo>
                <a:lnTo>
                  <a:pt x="7584509" y="3498355"/>
                </a:lnTo>
                <a:lnTo>
                  <a:pt x="0" y="349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39837" y="2900022"/>
            <a:ext cx="6091724" cy="4982349"/>
          </a:xfrm>
          <a:custGeom>
            <a:avLst/>
            <a:gdLst/>
            <a:ahLst/>
            <a:cxnLst/>
            <a:rect l="l" t="t" r="r" b="b"/>
            <a:pathLst>
              <a:path w="6091724" h="4982349">
                <a:moveTo>
                  <a:pt x="0" y="0"/>
                </a:moveTo>
                <a:lnTo>
                  <a:pt x="6091724" y="0"/>
                </a:lnTo>
                <a:lnTo>
                  <a:pt x="6091724" y="4982349"/>
                </a:lnTo>
                <a:lnTo>
                  <a:pt x="0" y="4982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2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582205"/>
            <a:ext cx="18288000" cy="1064791"/>
            <a:chOff x="0" y="0"/>
            <a:chExt cx="4816593" cy="2804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04580" y="67645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RUNTIME AND VIEWER STATISFACTION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8382" y="638402"/>
            <a:ext cx="952397" cy="9523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564473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526" y="2252785"/>
            <a:ext cx="9544980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DOES LONGER MOVIE LEAD TO HIGHER POPULARITY SCORE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03001" y="2252785"/>
            <a:ext cx="9544980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WHAT IS THE TYPICAL RUNTIME OF MOST MOVIES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8907" y="7982874"/>
            <a:ext cx="8964094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Longer movies do not always result in higher popularity, although some long movies do perform well.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48782" y="7982874"/>
            <a:ext cx="7156185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Most movies has the runtime of 90-120 minutes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1625" y="736775"/>
            <a:ext cx="62591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193853"/>
            <a:ext cx="7248306" cy="4711399"/>
          </a:xfrm>
          <a:custGeom>
            <a:avLst/>
            <a:gdLst/>
            <a:ahLst/>
            <a:cxnLst/>
            <a:rect l="l" t="t" r="r" b="b"/>
            <a:pathLst>
              <a:path w="7248306" h="4711399">
                <a:moveTo>
                  <a:pt x="0" y="0"/>
                </a:moveTo>
                <a:lnTo>
                  <a:pt x="7248306" y="0"/>
                </a:lnTo>
                <a:lnTo>
                  <a:pt x="7248306" y="4711399"/>
                </a:lnTo>
                <a:lnTo>
                  <a:pt x="0" y="4711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82205"/>
            <a:ext cx="18288000" cy="1064791"/>
            <a:chOff x="0" y="0"/>
            <a:chExt cx="4816593" cy="2804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06430" y="67645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LANGUAGE AND REGIONAL TREND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11150" y="638402"/>
            <a:ext cx="952397" cy="9523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116802" y="2784896"/>
            <a:ext cx="6486519" cy="5416243"/>
          </a:xfrm>
          <a:custGeom>
            <a:avLst/>
            <a:gdLst/>
            <a:ahLst/>
            <a:cxnLst/>
            <a:rect l="l" t="t" r="r" b="b"/>
            <a:pathLst>
              <a:path w="6486519" h="5416243">
                <a:moveTo>
                  <a:pt x="0" y="0"/>
                </a:moveTo>
                <a:lnTo>
                  <a:pt x="6486519" y="0"/>
                </a:lnTo>
                <a:lnTo>
                  <a:pt x="6486519" y="5416243"/>
                </a:lnTo>
                <a:lnTo>
                  <a:pt x="0" y="5416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603321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43020" y="2227483"/>
            <a:ext cx="9544980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COUNTRY PRODUCE MORE POPULAR MOVIE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2193192"/>
            <a:ext cx="9544980" cy="86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LANGUAGE HAS THE HIGHEST NUMBER OF MOVIES PRODUCED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906" y="8269605"/>
            <a:ext cx="896409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 language has the highest number of movies produced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878014" y="8269605"/>
            <a:ext cx="8964094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USA produces the most movies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95227" y="695499"/>
            <a:ext cx="768319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361751" y="2959453"/>
            <a:ext cx="13897549" cy="367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OBJECTIVE 3: 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ANALYZING MARKET TREND AND CONTENT EVOLUTION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479628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87601" y="6779930"/>
            <a:ext cx="4148076" cy="1387181"/>
          </a:xfrm>
          <a:custGeom>
            <a:avLst/>
            <a:gdLst/>
            <a:ahLst/>
            <a:cxnLst/>
            <a:rect l="l" t="t" r="r" b="b"/>
            <a:pathLst>
              <a:path w="4148076" h="1387181">
                <a:moveTo>
                  <a:pt x="0" y="0"/>
                </a:moveTo>
                <a:lnTo>
                  <a:pt x="4148076" y="0"/>
                </a:lnTo>
                <a:lnTo>
                  <a:pt x="4148076" y="1387181"/>
                </a:lnTo>
                <a:lnTo>
                  <a:pt x="0" y="1387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743244"/>
            <a:ext cx="18288000" cy="1064791"/>
            <a:chOff x="0" y="0"/>
            <a:chExt cx="4816593" cy="2804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40724" y="837490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AREA:POPULARITY OVER TIME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6775" y="21249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4365" y="5643280"/>
            <a:ext cx="1644262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HAS THE POPULARITY OF MOVIES SIGNIFICANTLY CHANGED BEFORE AND AFTER THE YEAR 2000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46987" y="8555551"/>
            <a:ext cx="9183971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Movie popularity is significantly higher after the year 2000.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651220" y="743244"/>
            <a:ext cx="952397" cy="95239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27202" y="800343"/>
            <a:ext cx="687128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0932" y="2820705"/>
            <a:ext cx="11288525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Step 1:- Connected Jupyter notebook and MySQL workbench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Step 2:- Created cursor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Step 3:-Created table and inserted columns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Step 4:-Convert rows into tuples and inserted rows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Step 5:- Save all the changes in the database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82205"/>
            <a:ext cx="18288000" cy="1064791"/>
            <a:chOff x="0" y="0"/>
            <a:chExt cx="4816593" cy="2804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02910" y="67645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CONTENT AND THEME EVOLUTION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44552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15</a:t>
            </a:r>
          </a:p>
        </p:txBody>
      </p:sp>
      <p:sp>
        <p:nvSpPr>
          <p:cNvPr id="7" name="Freeform 7"/>
          <p:cNvSpPr/>
          <p:nvPr/>
        </p:nvSpPr>
        <p:spPr>
          <a:xfrm>
            <a:off x="1359415" y="3038574"/>
            <a:ext cx="6079030" cy="4848026"/>
          </a:xfrm>
          <a:custGeom>
            <a:avLst/>
            <a:gdLst/>
            <a:ahLst/>
            <a:cxnLst/>
            <a:rect l="l" t="t" r="r" b="b"/>
            <a:pathLst>
              <a:path w="6079030" h="4848026">
                <a:moveTo>
                  <a:pt x="0" y="0"/>
                </a:moveTo>
                <a:lnTo>
                  <a:pt x="6079030" y="0"/>
                </a:lnTo>
                <a:lnTo>
                  <a:pt x="6079030" y="4848026"/>
                </a:lnTo>
                <a:lnTo>
                  <a:pt x="0" y="4848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938033" y="3531602"/>
            <a:ext cx="7321267" cy="3861969"/>
          </a:xfrm>
          <a:custGeom>
            <a:avLst/>
            <a:gdLst/>
            <a:ahLst/>
            <a:cxnLst/>
            <a:rect l="l" t="t" r="r" b="b"/>
            <a:pathLst>
              <a:path w="7321267" h="3861969">
                <a:moveTo>
                  <a:pt x="0" y="0"/>
                </a:moveTo>
                <a:lnTo>
                  <a:pt x="7321267" y="0"/>
                </a:lnTo>
                <a:lnTo>
                  <a:pt x="7321267" y="3861969"/>
                </a:lnTo>
                <a:lnTo>
                  <a:pt x="0" y="3861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2193192"/>
            <a:ext cx="9544980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KEYWORD APPEARS MOST FREQUENTLY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2193192"/>
            <a:ext cx="8952052" cy="86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HOW ARE THE MOST COMMON KEYWORDS DISTRIBUTED ACROSS DIFFERENT DECADES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245288" y="8499949"/>
            <a:ext cx="8964094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Women director is most common theme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16619" y="8499949"/>
            <a:ext cx="8964094" cy="13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2000s have the highest number of movies associated with common keywords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359415" y="638402"/>
            <a:ext cx="952397" cy="95239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21944" y="695501"/>
            <a:ext cx="62734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99987" y="2892887"/>
            <a:ext cx="11888025" cy="4847548"/>
          </a:xfrm>
          <a:custGeom>
            <a:avLst/>
            <a:gdLst/>
            <a:ahLst/>
            <a:cxnLst/>
            <a:rect l="l" t="t" r="r" b="b"/>
            <a:pathLst>
              <a:path w="11888025" h="4847548">
                <a:moveTo>
                  <a:pt x="0" y="0"/>
                </a:moveTo>
                <a:lnTo>
                  <a:pt x="11888026" y="0"/>
                </a:lnTo>
                <a:lnTo>
                  <a:pt x="11888026" y="4847548"/>
                </a:lnTo>
                <a:lnTo>
                  <a:pt x="0" y="4847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8" r="-1018" b="-40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82205"/>
            <a:ext cx="18288000" cy="1064791"/>
            <a:chOff x="0" y="0"/>
            <a:chExt cx="4816593" cy="2804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52393" y="67645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AREA:GENRE TRENDS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06398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19780" y="2255385"/>
            <a:ext cx="9544980" cy="431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GENRE IS MOSTLY PRODUCED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2450" y="7855971"/>
            <a:ext cx="8964094" cy="13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Drama movies are most consistently produced genre over the years.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2827620" y="676451"/>
            <a:ext cx="1058580" cy="91434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799949" y="746126"/>
            <a:ext cx="1233032" cy="67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361751" y="2959453"/>
            <a:ext cx="11564498" cy="367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OBJECTIVE 4: 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MOVIE RATING AND REVENUE PREDICTION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65167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5135" y="2792805"/>
            <a:ext cx="7799879" cy="3870690"/>
          </a:xfrm>
          <a:custGeom>
            <a:avLst/>
            <a:gdLst/>
            <a:ahLst/>
            <a:cxnLst/>
            <a:rect l="l" t="t" r="r" b="b"/>
            <a:pathLst>
              <a:path w="7799879" h="3870690">
                <a:moveTo>
                  <a:pt x="0" y="0"/>
                </a:moveTo>
                <a:lnTo>
                  <a:pt x="7799879" y="0"/>
                </a:lnTo>
                <a:lnTo>
                  <a:pt x="7799879" y="3870690"/>
                </a:lnTo>
                <a:lnTo>
                  <a:pt x="0" y="3870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82205"/>
            <a:ext cx="18288000" cy="1064791"/>
            <a:chOff x="0" y="0"/>
            <a:chExt cx="4816593" cy="2804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669685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REVENUE AND RATING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85783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02585" y="1974609"/>
            <a:ext cx="9544980" cy="86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DOES A HIGHER RATING LEAD TO HIGHER REVENUE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28940" y="7191265"/>
            <a:ext cx="8246074" cy="13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higher rating does not necessarily lead to higher revenue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534843" y="631636"/>
            <a:ext cx="952397" cy="95239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05467" y="695500"/>
            <a:ext cx="692486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6305"/>
            <a:ext cx="18288000" cy="1064791"/>
            <a:chOff x="0" y="0"/>
            <a:chExt cx="4816593" cy="2804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5934" y="60850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MOVIE RATING PREDICTION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799220"/>
            <a:ext cx="16479419" cy="262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Predicting the movie rating  category (good, average, poor) using budget, runtime ,genre count, production country ,language and production company. Since the output  a class label, this is a classification problem</a:t>
            </a:r>
          </a:p>
          <a:p>
            <a:pPr algn="l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algn="l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algn="ctr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algn="ctr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63920" y="496305"/>
            <a:ext cx="1074480" cy="9523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80892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413601" y="2986204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02040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12613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968091" y="6160504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4"/>
                </a:lnTo>
                <a:lnTo>
                  <a:pt x="0" y="239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913496" y="6160504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4"/>
                </a:lnTo>
                <a:lnTo>
                  <a:pt x="0" y="239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722927" y="3897613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833501" y="3765256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944075" y="3632899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8" y="0"/>
                </a:lnTo>
                <a:lnTo>
                  <a:pt x="768538" y="702864"/>
                </a:lnTo>
                <a:lnTo>
                  <a:pt x="0" y="70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5400000">
            <a:off x="14254839" y="5424803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>
            <a:off x="12227542" y="7175315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8" y="0"/>
                </a:lnTo>
                <a:lnTo>
                  <a:pt x="768538" y="702864"/>
                </a:lnTo>
                <a:lnTo>
                  <a:pt x="0" y="70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1" name="Table 21"/>
          <p:cNvGraphicFramePr>
            <a:graphicFrameLocks noGrp="1"/>
          </p:cNvGraphicFramePr>
          <p:nvPr/>
        </p:nvGraphicFramePr>
        <p:xfrm>
          <a:off x="961911" y="6160504"/>
          <a:ext cx="6656184" cy="3429000"/>
        </p:xfrm>
        <a:graphic>
          <a:graphicData uri="http://schemas.openxmlformats.org/drawingml/2006/table">
            <a:tbl>
              <a:tblPr/>
              <a:tblGrid>
                <a:gridCol w="3328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16626320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1864" y="553403"/>
            <a:ext cx="815804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6621" y="3310520"/>
            <a:ext cx="30305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Prepare the data and select feature and target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47194" y="3310520"/>
            <a:ext cx="30305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Split the dataset into training and testing sets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57768" y="3100687"/>
            <a:ext cx="3030579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Apply Standard Scaling to normalize all numeric features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68342" y="3224513"/>
            <a:ext cx="30305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Train the Logistic Regression model using training data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23819" y="6579604"/>
            <a:ext cx="30305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 the rating classes on the test data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69224" y="7017754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Evaluate the model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9425" y="63922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Accuracy Score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9425" y="7233654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Precision Score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9425" y="80178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Recall Score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6618" y="8935454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F1 Score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91466" y="63922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0.62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91466" y="7233654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0.62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91466" y="807502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0.62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91466" y="8916404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0.62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AEABCC-CF2F-66B0-E654-B435A41F4D48}"/>
              </a:ext>
            </a:extLst>
          </p:cNvPr>
          <p:cNvSpPr txBox="1"/>
          <p:nvPr/>
        </p:nvSpPr>
        <p:spPr>
          <a:xfrm>
            <a:off x="-606588" y="5590622"/>
            <a:ext cx="9520084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5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Logistic regression table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6305"/>
            <a:ext cx="18288000" cy="1064791"/>
            <a:chOff x="0" y="0"/>
            <a:chExt cx="4816593" cy="2804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5934" y="60850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MOVIE RATING PREDICTION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799220"/>
            <a:ext cx="16479419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Cluster top-rated movies to identify distinct segments of high-performing films . Features used are budget, popularity, runtime, genre count</a:t>
            </a:r>
          </a:p>
          <a:p>
            <a:pPr algn="l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63920" y="496305"/>
            <a:ext cx="952397" cy="9523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80892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491466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02040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12613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968091" y="6160504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4"/>
                </a:lnTo>
                <a:lnTo>
                  <a:pt x="0" y="239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722927" y="3897613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833501" y="3765256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944075" y="3632899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8" y="0"/>
                </a:lnTo>
                <a:lnTo>
                  <a:pt x="768538" y="702864"/>
                </a:lnTo>
                <a:lnTo>
                  <a:pt x="0" y="70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14254839" y="5424803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2758884" y="6590716"/>
          <a:ext cx="7315200" cy="885825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20"/>
          <p:cNvSpPr txBox="1"/>
          <p:nvPr/>
        </p:nvSpPr>
        <p:spPr>
          <a:xfrm>
            <a:off x="16626320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21863" y="553403"/>
            <a:ext cx="773823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6621" y="3310520"/>
            <a:ext cx="30305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Prepare the data and select feature and target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61096" y="3092156"/>
            <a:ext cx="3030579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Identified the k value using elbow method and silhouette score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43866" y="3224513"/>
            <a:ext cx="3030579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Apply Standard Scaling to normalize all numeric features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68342" y="3224513"/>
            <a:ext cx="30305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Apply kmeans model and plotted it using scatter plot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23819" y="6579604"/>
            <a:ext cx="303057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Identified cluster features average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31905" y="67986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02481" y="67986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96305"/>
            <a:ext cx="18288000" cy="1064791"/>
            <a:chOff x="0" y="0"/>
            <a:chExt cx="4816593" cy="2804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5934" y="608501"/>
            <a:ext cx="16230600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 AREA: MOVIE REVENUE PREDICTION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26320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799220"/>
            <a:ext cx="16479419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Predicting whether a movie is high revenue generating using suitable features </a:t>
            </a:r>
          </a:p>
          <a:p>
            <a:pPr algn="l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algn="l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algn="ctr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algn="ctr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63920" y="496305"/>
            <a:ext cx="952397" cy="95239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38354" y="553403"/>
            <a:ext cx="60352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5CE1E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4c</a:t>
            </a:r>
          </a:p>
        </p:txBody>
      </p:sp>
      <p:sp>
        <p:nvSpPr>
          <p:cNvPr id="12" name="Freeform 12"/>
          <p:cNvSpPr/>
          <p:nvPr/>
        </p:nvSpPr>
        <p:spPr>
          <a:xfrm>
            <a:off x="380892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491466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576991" y="27490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12613" y="2919995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5"/>
                </a:lnTo>
                <a:lnTo>
                  <a:pt x="0" y="2393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968091" y="6160504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4"/>
                </a:lnTo>
                <a:lnTo>
                  <a:pt x="0" y="239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913496" y="6160504"/>
            <a:ext cx="3342035" cy="2393384"/>
          </a:xfrm>
          <a:custGeom>
            <a:avLst/>
            <a:gdLst/>
            <a:ahLst/>
            <a:cxnLst/>
            <a:rect l="l" t="t" r="r" b="b"/>
            <a:pathLst>
              <a:path w="3342035" h="2393384">
                <a:moveTo>
                  <a:pt x="0" y="0"/>
                </a:moveTo>
                <a:lnTo>
                  <a:pt x="3342035" y="0"/>
                </a:lnTo>
                <a:lnTo>
                  <a:pt x="3342035" y="2393384"/>
                </a:lnTo>
                <a:lnTo>
                  <a:pt x="0" y="239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36621" y="3310520"/>
            <a:ext cx="30305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Prepare the data and select feature and target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47194" y="3310520"/>
            <a:ext cx="30305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Split the dataset into training and testing sets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54440" y="3662663"/>
            <a:ext cx="303057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Applied Standard Scaling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19905" y="7104472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Applied KNN model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69224" y="7151705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Evaluate the model </a:t>
            </a:r>
          </a:p>
        </p:txBody>
      </p:sp>
      <p:sp>
        <p:nvSpPr>
          <p:cNvPr id="23" name="Freeform 23"/>
          <p:cNvSpPr/>
          <p:nvPr/>
        </p:nvSpPr>
        <p:spPr>
          <a:xfrm>
            <a:off x="3722927" y="3897613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833501" y="3765256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944075" y="3632899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8" y="0"/>
                </a:lnTo>
                <a:lnTo>
                  <a:pt x="768538" y="702864"/>
                </a:lnTo>
                <a:lnTo>
                  <a:pt x="0" y="70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5400000">
            <a:off x="14254839" y="5424803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9" y="0"/>
                </a:lnTo>
                <a:lnTo>
                  <a:pt x="768539" y="702863"/>
                </a:lnTo>
                <a:lnTo>
                  <a:pt x="0" y="7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10800000">
            <a:off x="12227542" y="7175315"/>
            <a:ext cx="768539" cy="702863"/>
          </a:xfrm>
          <a:custGeom>
            <a:avLst/>
            <a:gdLst/>
            <a:ahLst/>
            <a:cxnLst/>
            <a:rect l="l" t="t" r="r" b="b"/>
            <a:pathLst>
              <a:path w="768539" h="702863">
                <a:moveTo>
                  <a:pt x="0" y="0"/>
                </a:moveTo>
                <a:lnTo>
                  <a:pt x="768538" y="0"/>
                </a:lnTo>
                <a:lnTo>
                  <a:pt x="768538" y="702864"/>
                </a:lnTo>
                <a:lnTo>
                  <a:pt x="0" y="70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874538" y="3607694"/>
            <a:ext cx="303057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Find the best value of k</a:t>
            </a:r>
          </a:p>
        </p:txBody>
      </p:sp>
      <p:graphicFrame>
        <p:nvGraphicFramePr>
          <p:cNvPr id="29" name="Table 29"/>
          <p:cNvGraphicFramePr>
            <a:graphicFrameLocks noGrp="1"/>
          </p:cNvGraphicFramePr>
          <p:nvPr/>
        </p:nvGraphicFramePr>
        <p:xfrm>
          <a:off x="961911" y="6160504"/>
          <a:ext cx="6656184" cy="3429000"/>
        </p:xfrm>
        <a:graphic>
          <a:graphicData uri="http://schemas.openxmlformats.org/drawingml/2006/table">
            <a:tbl>
              <a:tblPr/>
              <a:tblGrid>
                <a:gridCol w="3328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Box 30"/>
          <p:cNvSpPr txBox="1"/>
          <p:nvPr/>
        </p:nvSpPr>
        <p:spPr>
          <a:xfrm>
            <a:off x="1259425" y="63922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Accuracy Score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9425" y="7233654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Precision Score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9425" y="80178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Recall Score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6618" y="8935454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F1 Score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91466" y="63922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0.78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91466" y="7151705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0.78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91466" y="8017879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0.78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91466" y="8935454"/>
            <a:ext cx="30305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0.78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4D0095-B86E-1DA3-2FB8-4C94C40E7860}"/>
              </a:ext>
            </a:extLst>
          </p:cNvPr>
          <p:cNvSpPr txBox="1"/>
          <p:nvPr/>
        </p:nvSpPr>
        <p:spPr>
          <a:xfrm>
            <a:off x="-682108" y="5614274"/>
            <a:ext cx="9520084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5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KNN model table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654640"/>
            <a:ext cx="18288000" cy="1064791"/>
            <a:chOff x="0" y="0"/>
            <a:chExt cx="4816593" cy="2804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49171" y="1719430"/>
            <a:ext cx="12948956" cy="8301435"/>
          </a:xfrm>
          <a:custGeom>
            <a:avLst/>
            <a:gdLst/>
            <a:ahLst/>
            <a:cxnLst/>
            <a:rect l="l" t="t" r="r" b="b"/>
            <a:pathLst>
              <a:path w="12948956" h="8301435">
                <a:moveTo>
                  <a:pt x="0" y="0"/>
                </a:moveTo>
                <a:lnTo>
                  <a:pt x="12948956" y="0"/>
                </a:lnTo>
                <a:lnTo>
                  <a:pt x="12948956" y="8301435"/>
                </a:lnTo>
                <a:lnTo>
                  <a:pt x="0" y="8301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582705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41400" y="758410"/>
            <a:ext cx="115644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654640"/>
            <a:ext cx="18288000" cy="1064791"/>
            <a:chOff x="0" y="0"/>
            <a:chExt cx="4816593" cy="2804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8829" y="2157580"/>
            <a:ext cx="17948490" cy="5809462"/>
          </a:xfrm>
          <a:custGeom>
            <a:avLst/>
            <a:gdLst/>
            <a:ahLst/>
            <a:cxnLst/>
            <a:rect l="l" t="t" r="r" b="b"/>
            <a:pathLst>
              <a:path w="17948490" h="5809462">
                <a:moveTo>
                  <a:pt x="0" y="0"/>
                </a:moveTo>
                <a:lnTo>
                  <a:pt x="17948490" y="0"/>
                </a:lnTo>
                <a:lnTo>
                  <a:pt x="17948490" y="5809463"/>
                </a:lnTo>
                <a:lnTo>
                  <a:pt x="0" y="5809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582705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41400" y="758410"/>
            <a:ext cx="115644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DASHBOARD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83077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0338" y="1653170"/>
            <a:ext cx="18027662" cy="491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Medium-budget movies deliver the highest profitability.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Drama is the most produced genre; Universal Pictures leads in profits.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Strong director–actor combinations significantly boost success.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Audiences prefer movies between 90–120 minutes; longer films are not more popular.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Content themes increased sharply after 2000.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 ml model to predict rating class and high revenue movies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407670"/>
            <a:ext cx="18288000" cy="1064791"/>
            <a:chOff x="0" y="0"/>
            <a:chExt cx="4816593" cy="2804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361751" y="600075"/>
            <a:ext cx="115644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SUMMARY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67186" y="4611105"/>
            <a:ext cx="18288000" cy="1064791"/>
            <a:chOff x="0" y="0"/>
            <a:chExt cx="4816593" cy="2804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-201557" y="5921375"/>
            <a:ext cx="18422371" cy="436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Concluded that budget range, genre profitability, strong director–actor collaborations, and efficient production studios are the most influential factors determining movie success.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Established that audience preferences depend on ideal movie runtimes, rating patterns, and popularity trends, which vary across languages and regions.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Identified long-term industry patterns showing that movie popularity, genre focus, and thematic content have evolved significantly, especially after 2000.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Demonstrated that machine-learning models to predict movie ratings and revenue, helping stakeholders estimate movie performance even before release.</a:t>
            </a: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142180" y="4714875"/>
            <a:ext cx="1156449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CONCLUSION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496305"/>
            <a:ext cx="18288000" cy="1064791"/>
            <a:chOff x="0" y="0"/>
            <a:chExt cx="4816593" cy="2804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59898" y="600075"/>
            <a:ext cx="1492624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BUSINESS SUGGESTIONS AND IMPLEMENTATIONS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82705" y="-47625"/>
            <a:ext cx="242042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57120" y="1654175"/>
            <a:ext cx="13531805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Use predictive models to forecast revenue and audience ratings before release.</a:t>
            </a:r>
          </a:p>
          <a:p>
            <a:pPr marL="539746" lvl="1" indent="-269873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Develop genre-specific strategies — invest more in Adventure, Fantasy, and Animation, while maintaining strong Comedy and Drama portfolios.</a:t>
            </a:r>
          </a:p>
          <a:p>
            <a:pPr marL="539746" lvl="1" indent="-269873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Strengthen partnerships with proven directors and actors who have consistent profit records.</a:t>
            </a:r>
          </a:p>
          <a:p>
            <a:pPr marL="539746" lvl="1" indent="-269873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Incorporate data analytics teams into production planning and post-release analysis for continual improvement.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0" y="4854073"/>
            <a:ext cx="18288000" cy="1064791"/>
            <a:chOff x="0" y="0"/>
            <a:chExt cx="4816593" cy="2804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280439"/>
            </a:xfrm>
            <a:custGeom>
              <a:avLst/>
              <a:gdLst/>
              <a:ahLst/>
              <a:cxnLst/>
              <a:rect l="l" t="t" r="r" b="b"/>
              <a:pathLst>
                <a:path w="4816592" h="280439">
                  <a:moveTo>
                    <a:pt x="4816592" y="0"/>
                  </a:moveTo>
                  <a:lnTo>
                    <a:pt x="0" y="0"/>
                  </a:lnTo>
                  <a:lnTo>
                    <a:pt x="101600" y="140219"/>
                  </a:lnTo>
                  <a:lnTo>
                    <a:pt x="0" y="280439"/>
                  </a:lnTo>
                  <a:lnTo>
                    <a:pt x="4816592" y="280439"/>
                  </a:lnTo>
                  <a:lnTo>
                    <a:pt x="4714992" y="140219"/>
                  </a:lnTo>
                  <a:lnTo>
                    <a:pt x="4816592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88900" y="-38100"/>
              <a:ext cx="4638793" cy="318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657120" y="6061739"/>
            <a:ext cx="12735280" cy="1320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Limitations: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Dataset lacks detailed information on marketing strategy, regional revenues etc.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Dataset contain information only till 2016.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57120" y="7521575"/>
            <a:ext cx="13344880" cy="1320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Future Scope: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Integrate OTT data to understand post-release performance.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Explore global vs. regional preferences to tailor movie strategies for specific markets.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95225" y="4957843"/>
            <a:ext cx="1389754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LIMITATIONS AND FUTURE SCOPE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284825" y="4087813"/>
            <a:ext cx="11718350" cy="189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1247</Words>
  <Application>Microsoft Office PowerPoint</Application>
  <PresentationFormat>Custom</PresentationFormat>
  <Paragraphs>217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Calibri</vt:lpstr>
      <vt:lpstr>Bricolage Grotesque Medium</vt:lpstr>
      <vt:lpstr>Bricolage Grotesque</vt:lpstr>
      <vt:lpstr>Arial</vt:lpstr>
      <vt:lpstr>Glacial Indifference</vt:lpstr>
      <vt:lpstr>Canva Sans Bold</vt:lpstr>
      <vt:lpstr>Bricolage Grotesque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insights and predictions</dc:title>
  <dc:creator>Annu Anna</dc:creator>
  <cp:lastModifiedBy>Annu Anna Reni</cp:lastModifiedBy>
  <cp:revision>4</cp:revision>
  <dcterms:created xsi:type="dcterms:W3CDTF">2006-08-16T00:00:00Z</dcterms:created>
  <dcterms:modified xsi:type="dcterms:W3CDTF">2025-12-10T16:30:08Z</dcterms:modified>
  <dc:identifier>DAG4sICY-vs</dc:identifier>
</cp:coreProperties>
</file>